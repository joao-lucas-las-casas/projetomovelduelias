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71100" cy="7562850"/>
  <p:notesSz cx="100711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5808" y="2344483"/>
            <a:ext cx="8565833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1617" y="4235196"/>
            <a:ext cx="7054215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4"/>
            <a:ext cx="10077450" cy="75589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20963"/>
            <a:ext cx="10077450" cy="44991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720062"/>
            <a:ext cx="10077449" cy="8427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3872" y="1739455"/>
            <a:ext cx="43836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9886" y="1739455"/>
            <a:ext cx="43836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34"/>
            <a:ext cx="10077450" cy="75589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220963"/>
            <a:ext cx="10077450" cy="44991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720062"/>
            <a:ext cx="10077449" cy="84278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762" y="6728012"/>
            <a:ext cx="10073005" cy="12700"/>
          </a:xfrm>
          <a:custGeom>
            <a:avLst/>
            <a:gdLst/>
            <a:ahLst/>
            <a:cxnLst/>
            <a:rect l="l" t="t" r="r" b="b"/>
            <a:pathLst>
              <a:path w="10073005" h="12700">
                <a:moveTo>
                  <a:pt x="10072687" y="0"/>
                </a:moveTo>
                <a:lnTo>
                  <a:pt x="0" y="0"/>
                </a:lnTo>
                <a:lnTo>
                  <a:pt x="0" y="12706"/>
                </a:lnTo>
                <a:lnTo>
                  <a:pt x="10072687" y="12706"/>
                </a:lnTo>
                <a:lnTo>
                  <a:pt x="10072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822" y="318333"/>
            <a:ext cx="6334442" cy="670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4022" y="1904745"/>
            <a:ext cx="5928995" cy="5122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6333" y="7033450"/>
            <a:ext cx="322478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3872" y="7033450"/>
            <a:ext cx="2317813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55764" y="7033450"/>
            <a:ext cx="2317813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ww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jpg"/><Relationship Id="rId10" Type="http://schemas.openxmlformats.org/officeDocument/2006/relationships/image" Target="../media/image12.png"/><Relationship Id="rId11" Type="http://schemas.openxmlformats.org/officeDocument/2006/relationships/image" Target="../media/image1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" y="6728012"/>
            <a:ext cx="10073005" cy="12700"/>
          </a:xfrm>
          <a:custGeom>
            <a:avLst/>
            <a:gdLst/>
            <a:ahLst/>
            <a:cxnLst/>
            <a:rect l="l" t="t" r="r" b="b"/>
            <a:pathLst>
              <a:path w="10073005" h="12700">
                <a:moveTo>
                  <a:pt x="10072687" y="0"/>
                </a:moveTo>
                <a:lnTo>
                  <a:pt x="0" y="0"/>
                </a:lnTo>
                <a:lnTo>
                  <a:pt x="0" y="12706"/>
                </a:lnTo>
                <a:lnTo>
                  <a:pt x="10072687" y="12706"/>
                </a:lnTo>
                <a:lnTo>
                  <a:pt x="10072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130"/>
              </a:spcBef>
            </a:pPr>
            <a:r>
              <a:rPr dirty="0" spc="320"/>
              <a:t>DUELIAS</a:t>
            </a:r>
            <a:r>
              <a:rPr dirty="0" spc="-350"/>
              <a:t> </a:t>
            </a:r>
            <a:r>
              <a:rPr dirty="0" spc="275"/>
              <a:t>APP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72122" y="1385569"/>
            <a:ext cx="7694930" cy="3999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27329" indent="-214629">
              <a:lnSpc>
                <a:spcPct val="100000"/>
              </a:lnSpc>
              <a:spcBef>
                <a:spcPts val="130"/>
              </a:spcBef>
              <a:buClr>
                <a:srgbClr val="B71E42"/>
              </a:buClr>
              <a:buFont typeface="Arial MT"/>
              <a:buChar char="•"/>
              <a:tabLst>
                <a:tab pos="227329" algn="l"/>
              </a:tabLst>
            </a:pPr>
            <a:r>
              <a:rPr dirty="0" sz="2000" b="1">
                <a:latin typeface="Arial"/>
                <a:cs typeface="Arial"/>
              </a:rPr>
              <a:t>PROGRAMAÇÃO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35" b="1">
                <a:latin typeface="Arial"/>
                <a:cs typeface="Arial"/>
              </a:rPr>
              <a:t>PARA</a:t>
            </a:r>
            <a:r>
              <a:rPr dirty="0" sz="2000" spc="-1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DISPOSITIVOS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MÓVEIS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EM</a:t>
            </a:r>
            <a:r>
              <a:rPr dirty="0" sz="2000" spc="-15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ANDROID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000">
              <a:latin typeface="Arial"/>
              <a:cs typeface="Arial"/>
            </a:endParaRPr>
          </a:p>
          <a:p>
            <a:pPr marL="2066289" marR="1832610" indent="1094740">
              <a:lnSpc>
                <a:spcPct val="119000"/>
              </a:lnSpc>
            </a:pPr>
            <a:r>
              <a:rPr dirty="0" sz="2000">
                <a:latin typeface="Arial MT"/>
                <a:cs typeface="Arial MT"/>
              </a:rPr>
              <a:t>TURMA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3002: </a:t>
            </a:r>
            <a:r>
              <a:rPr dirty="0" sz="2000">
                <a:latin typeface="Arial MT"/>
                <a:cs typeface="Arial MT"/>
              </a:rPr>
              <a:t>VINICIUS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MASTRANGELO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DIAS</a:t>
            </a:r>
            <a:endParaRPr sz="2000">
              <a:latin typeface="Arial MT"/>
              <a:cs typeface="Arial MT"/>
            </a:endParaRPr>
          </a:p>
          <a:p>
            <a:pPr algn="ctr" marL="228600">
              <a:lnSpc>
                <a:spcPct val="100000"/>
              </a:lnSpc>
              <a:spcBef>
                <a:spcPts val="459"/>
              </a:spcBef>
            </a:pPr>
            <a:r>
              <a:rPr dirty="0" sz="2000" spc="-10">
                <a:latin typeface="Arial MT"/>
                <a:cs typeface="Arial MT"/>
              </a:rPr>
              <a:t>202208700438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000">
              <a:latin typeface="Arial MT"/>
              <a:cs typeface="Arial MT"/>
            </a:endParaRPr>
          </a:p>
          <a:p>
            <a:pPr algn="ctr" marL="1983105" marR="1749425">
              <a:lnSpc>
                <a:spcPct val="122100"/>
              </a:lnSpc>
            </a:pPr>
            <a:r>
              <a:rPr dirty="0" sz="2000">
                <a:latin typeface="Arial MT"/>
                <a:cs typeface="Arial MT"/>
              </a:rPr>
              <a:t>JOÃO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LUCAS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CASAS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ALVES </a:t>
            </a:r>
            <a:r>
              <a:rPr dirty="0" sz="2000" spc="-10">
                <a:latin typeface="Arial MT"/>
                <a:cs typeface="Arial MT"/>
              </a:rPr>
              <a:t>202208700471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000">
              <a:latin typeface="Arial MT"/>
              <a:cs typeface="Arial MT"/>
            </a:endParaRPr>
          </a:p>
          <a:p>
            <a:pPr marL="3112135" marR="1555115" indent="-1319530">
              <a:lnSpc>
                <a:spcPct val="122100"/>
              </a:lnSpc>
            </a:pPr>
            <a:r>
              <a:rPr dirty="0" sz="2000">
                <a:latin typeface="Arial MT"/>
                <a:cs typeface="Arial MT"/>
              </a:rPr>
              <a:t>MARCELO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JERONIMO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OLIVEIRA 202209188676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41525" y="6148070"/>
            <a:ext cx="47885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Arial MT"/>
                <a:cs typeface="Arial MT"/>
              </a:rPr>
              <a:t>PROFESSOR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LUIZ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45">
                <a:latin typeface="Arial MT"/>
                <a:cs typeface="Arial MT"/>
              </a:rPr>
              <a:t>GUSTAVO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TURATTI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" y="6728012"/>
            <a:ext cx="10073005" cy="12700"/>
          </a:xfrm>
          <a:custGeom>
            <a:avLst/>
            <a:gdLst/>
            <a:ahLst/>
            <a:cxnLst/>
            <a:rect l="l" t="t" r="r" b="b"/>
            <a:pathLst>
              <a:path w="10073005" h="12700">
                <a:moveTo>
                  <a:pt x="10072687" y="0"/>
                </a:moveTo>
                <a:lnTo>
                  <a:pt x="0" y="0"/>
                </a:lnTo>
                <a:lnTo>
                  <a:pt x="0" y="12706"/>
                </a:lnTo>
                <a:lnTo>
                  <a:pt x="10072687" y="12706"/>
                </a:lnTo>
                <a:lnTo>
                  <a:pt x="10072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8393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dirty="0" spc="330"/>
              <a:t>INDICE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10907" y="2015998"/>
            <a:ext cx="7506334" cy="19050"/>
          </a:xfrm>
          <a:custGeom>
            <a:avLst/>
            <a:gdLst/>
            <a:ahLst/>
            <a:cxnLst/>
            <a:rect l="l" t="t" r="r" b="b"/>
            <a:pathLst>
              <a:path w="7506334" h="19050">
                <a:moveTo>
                  <a:pt x="7505738" y="0"/>
                </a:moveTo>
                <a:lnTo>
                  <a:pt x="0" y="0"/>
                </a:lnTo>
                <a:lnTo>
                  <a:pt x="0" y="19050"/>
                </a:lnTo>
                <a:lnTo>
                  <a:pt x="7505738" y="19050"/>
                </a:lnTo>
                <a:lnTo>
                  <a:pt x="7505738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0850" y="1719580"/>
            <a:ext cx="3615054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1</a:t>
            </a:r>
            <a:r>
              <a:rPr dirty="0" sz="2000" spc="-3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-</a:t>
            </a:r>
            <a:r>
              <a:rPr dirty="0" sz="2000" spc="-2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OBJETIVO</a:t>
            </a:r>
            <a:r>
              <a:rPr dirty="0" sz="2000" spc="-45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DO</a:t>
            </a:r>
            <a:r>
              <a:rPr dirty="0" sz="2000" spc="-5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PROJETO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052834" y="2033078"/>
            <a:ext cx="4028440" cy="0"/>
          </a:xfrm>
          <a:custGeom>
            <a:avLst/>
            <a:gdLst/>
            <a:ahLst/>
            <a:cxnLst/>
            <a:rect l="l" t="t" r="r" b="b"/>
            <a:pathLst>
              <a:path w="4028440" h="0">
                <a:moveTo>
                  <a:pt x="0" y="0"/>
                </a:moveTo>
                <a:lnTo>
                  <a:pt x="3675855" y="0"/>
                </a:lnTo>
              </a:path>
              <a:path w="4028440" h="0">
                <a:moveTo>
                  <a:pt x="3741338" y="0"/>
                </a:moveTo>
                <a:lnTo>
                  <a:pt x="4028023" y="0"/>
                </a:lnTo>
              </a:path>
            </a:pathLst>
          </a:custGeom>
          <a:ln w="16366">
            <a:solidFill>
              <a:srgbClr val="00A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057588" y="1719580"/>
            <a:ext cx="1689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10907" y="2521204"/>
            <a:ext cx="7506334" cy="19050"/>
          </a:xfrm>
          <a:custGeom>
            <a:avLst/>
            <a:gdLst/>
            <a:ahLst/>
            <a:cxnLst/>
            <a:rect l="l" t="t" r="r" b="b"/>
            <a:pathLst>
              <a:path w="7506334" h="19050">
                <a:moveTo>
                  <a:pt x="7505738" y="0"/>
                </a:moveTo>
                <a:lnTo>
                  <a:pt x="0" y="0"/>
                </a:lnTo>
                <a:lnTo>
                  <a:pt x="0" y="19050"/>
                </a:lnTo>
                <a:lnTo>
                  <a:pt x="7505738" y="19050"/>
                </a:lnTo>
                <a:lnTo>
                  <a:pt x="7505738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50850" y="2225293"/>
            <a:ext cx="55200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2</a:t>
            </a:r>
            <a:r>
              <a:rPr dirty="0" sz="2000" spc="-2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-</a:t>
            </a:r>
            <a:r>
              <a:rPr dirty="0" sz="2000" spc="-1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CRONOGRAMA</a:t>
            </a:r>
            <a:r>
              <a:rPr dirty="0" sz="2000" spc="-105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DE</a:t>
            </a:r>
            <a:r>
              <a:rPr dirty="0" sz="2000" spc="-3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DESENVOLVIMENTO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57834" y="2538791"/>
            <a:ext cx="1838325" cy="0"/>
          </a:xfrm>
          <a:custGeom>
            <a:avLst/>
            <a:gdLst/>
            <a:ahLst/>
            <a:cxnLst/>
            <a:rect l="l" t="t" r="r" b="b"/>
            <a:pathLst>
              <a:path w="1838325" h="0">
                <a:moveTo>
                  <a:pt x="0" y="0"/>
                </a:moveTo>
                <a:lnTo>
                  <a:pt x="1838185" y="0"/>
                </a:lnTo>
              </a:path>
            </a:pathLst>
          </a:custGeom>
          <a:ln w="16366">
            <a:solidFill>
              <a:srgbClr val="00A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915833" y="2225293"/>
            <a:ext cx="31242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5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_4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10907" y="3026410"/>
            <a:ext cx="7553959" cy="19050"/>
          </a:xfrm>
          <a:custGeom>
            <a:avLst/>
            <a:gdLst/>
            <a:ahLst/>
            <a:cxnLst/>
            <a:rect l="l" t="t" r="r" b="b"/>
            <a:pathLst>
              <a:path w="7553959" h="19050">
                <a:moveTo>
                  <a:pt x="7553363" y="0"/>
                </a:moveTo>
                <a:lnTo>
                  <a:pt x="0" y="0"/>
                </a:lnTo>
                <a:lnTo>
                  <a:pt x="0" y="19050"/>
                </a:lnTo>
                <a:lnTo>
                  <a:pt x="7553363" y="19050"/>
                </a:lnTo>
                <a:lnTo>
                  <a:pt x="755336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50850" y="2731135"/>
            <a:ext cx="40163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3</a:t>
            </a:r>
            <a:r>
              <a:rPr dirty="0" sz="2000" spc="-3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-</a:t>
            </a:r>
            <a:r>
              <a:rPr dirty="0" sz="2000" spc="-6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TECNOLOGIAS</a:t>
            </a:r>
            <a:r>
              <a:rPr dirty="0" sz="2000" spc="-4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UTILIZADAS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4453987" y="3044632"/>
            <a:ext cx="3399154" cy="0"/>
          </a:xfrm>
          <a:custGeom>
            <a:avLst/>
            <a:gdLst/>
            <a:ahLst/>
            <a:cxnLst/>
            <a:rect l="l" t="t" r="r" b="b"/>
            <a:pathLst>
              <a:path w="3399154" h="0">
                <a:moveTo>
                  <a:pt x="0" y="0"/>
                </a:moveTo>
                <a:lnTo>
                  <a:pt x="3398709" y="0"/>
                </a:lnTo>
              </a:path>
            </a:pathLst>
          </a:custGeom>
          <a:ln w="16366">
            <a:solidFill>
              <a:srgbClr val="00A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906769" y="2731135"/>
            <a:ext cx="38862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25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5,6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10907" y="3531615"/>
            <a:ext cx="7592059" cy="19050"/>
          </a:xfrm>
          <a:custGeom>
            <a:avLst/>
            <a:gdLst/>
            <a:ahLst/>
            <a:cxnLst/>
            <a:rect l="l" t="t" r="r" b="b"/>
            <a:pathLst>
              <a:path w="7592059" h="19050">
                <a:moveTo>
                  <a:pt x="7591463" y="0"/>
                </a:moveTo>
                <a:lnTo>
                  <a:pt x="0" y="0"/>
                </a:lnTo>
                <a:lnTo>
                  <a:pt x="0" y="19050"/>
                </a:lnTo>
                <a:lnTo>
                  <a:pt x="7591463" y="19050"/>
                </a:lnTo>
                <a:lnTo>
                  <a:pt x="759146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50850" y="3237547"/>
            <a:ext cx="30626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25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4</a:t>
            </a:r>
            <a:r>
              <a:rPr dirty="0" sz="20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-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FUNCIONALIDADES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500759" y="3550675"/>
            <a:ext cx="4239895" cy="0"/>
          </a:xfrm>
          <a:custGeom>
            <a:avLst/>
            <a:gdLst/>
            <a:ahLst/>
            <a:cxnLst/>
            <a:rect l="l" t="t" r="r" b="b"/>
            <a:pathLst>
              <a:path w="4239895" h="0">
                <a:moveTo>
                  <a:pt x="0" y="0"/>
                </a:moveTo>
                <a:lnTo>
                  <a:pt x="4239614" y="0"/>
                </a:lnTo>
              </a:path>
            </a:pathLst>
          </a:custGeom>
          <a:ln w="16346">
            <a:solidFill>
              <a:srgbClr val="00A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793849" y="3237547"/>
            <a:ext cx="521334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_7,8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10907" y="4036821"/>
            <a:ext cx="7649209" cy="19050"/>
          </a:xfrm>
          <a:custGeom>
            <a:avLst/>
            <a:gdLst/>
            <a:ahLst/>
            <a:cxnLst/>
            <a:rect l="l" t="t" r="r" b="b"/>
            <a:pathLst>
              <a:path w="7649209" h="19050">
                <a:moveTo>
                  <a:pt x="7648613" y="0"/>
                </a:moveTo>
                <a:lnTo>
                  <a:pt x="0" y="0"/>
                </a:lnTo>
                <a:lnTo>
                  <a:pt x="0" y="19050"/>
                </a:lnTo>
                <a:lnTo>
                  <a:pt x="7648613" y="19050"/>
                </a:lnTo>
                <a:lnTo>
                  <a:pt x="7648613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450850" y="3743261"/>
            <a:ext cx="14497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25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5</a:t>
            </a:r>
            <a:r>
              <a:rPr dirty="0" sz="2000" spc="-2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-</a:t>
            </a:r>
            <a:r>
              <a:rPr dirty="0" sz="2000" spc="-45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TELAS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887620" y="4056388"/>
            <a:ext cx="5098415" cy="0"/>
          </a:xfrm>
          <a:custGeom>
            <a:avLst/>
            <a:gdLst/>
            <a:ahLst/>
            <a:cxnLst/>
            <a:rect l="l" t="t" r="r" b="b"/>
            <a:pathLst>
              <a:path w="5098415" h="0">
                <a:moveTo>
                  <a:pt x="0" y="0"/>
                </a:moveTo>
                <a:lnTo>
                  <a:pt x="5098094" y="0"/>
                </a:lnTo>
              </a:path>
            </a:pathLst>
          </a:custGeom>
          <a:ln w="16346">
            <a:solidFill>
              <a:srgbClr val="00AE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039962" y="3743261"/>
            <a:ext cx="13519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solidFill>
                  <a:srgbClr val="00AFEF"/>
                </a:solidFill>
                <a:latin typeface="Arial MT"/>
                <a:cs typeface="Arial MT"/>
                <a:hlinkClick r:id="rId2"/>
              </a:rPr>
              <a:t>_9,10,11,12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22845"/>
            <a:ext cx="10073005" cy="7516495"/>
            <a:chOff x="4762" y="22845"/>
            <a:chExt cx="10073005" cy="75164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" y="22845"/>
              <a:ext cx="10072687" cy="751595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63" y="2236108"/>
              <a:ext cx="10046591" cy="449982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63" y="6737100"/>
              <a:ext cx="10046591" cy="80169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363" y="6731100"/>
              <a:ext cx="10046970" cy="16510"/>
            </a:xfrm>
            <a:custGeom>
              <a:avLst/>
              <a:gdLst/>
              <a:ahLst/>
              <a:cxnLst/>
              <a:rect l="l" t="t" r="r" b="b"/>
              <a:pathLst>
                <a:path w="10046970" h="16509">
                  <a:moveTo>
                    <a:pt x="0" y="16238"/>
                  </a:moveTo>
                  <a:lnTo>
                    <a:pt x="10046724" y="16238"/>
                  </a:lnTo>
                  <a:lnTo>
                    <a:pt x="10046724" y="0"/>
                  </a:lnTo>
                  <a:lnTo>
                    <a:pt x="0" y="0"/>
                  </a:lnTo>
                  <a:lnTo>
                    <a:pt x="0" y="162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99572" y="4223091"/>
              <a:ext cx="7678420" cy="0"/>
            </a:xfrm>
            <a:custGeom>
              <a:avLst/>
              <a:gdLst/>
              <a:ahLst/>
              <a:cxnLst/>
              <a:rect l="l" t="t" r="r" b="b"/>
              <a:pathLst>
                <a:path w="7678420" h="0">
                  <a:moveTo>
                    <a:pt x="7678241" y="0"/>
                  </a:moveTo>
                  <a:lnTo>
                    <a:pt x="0" y="0"/>
                  </a:lnTo>
                </a:path>
              </a:pathLst>
            </a:custGeom>
            <a:ln w="31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0419" y="4121381"/>
              <a:ext cx="157490" cy="20341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6092" y="4121381"/>
              <a:ext cx="157490" cy="20341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7740" y="4121381"/>
              <a:ext cx="157490" cy="20341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9387" y="4121381"/>
              <a:ext cx="157579" cy="203421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098059" y="4327399"/>
            <a:ext cx="1423035" cy="149796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ctr" marL="12700" marR="5080" indent="635">
              <a:lnSpc>
                <a:spcPct val="119600"/>
              </a:lnSpc>
              <a:spcBef>
                <a:spcPts val="210"/>
              </a:spcBef>
            </a:pPr>
            <a:r>
              <a:rPr dirty="0" sz="2000" spc="-305" b="1">
                <a:latin typeface="Arial"/>
                <a:cs typeface="Arial"/>
              </a:rPr>
              <a:t>Fase</a:t>
            </a:r>
            <a:r>
              <a:rPr dirty="0" sz="2000" spc="-125" b="1">
                <a:latin typeface="Arial"/>
                <a:cs typeface="Arial"/>
              </a:rPr>
              <a:t> </a:t>
            </a:r>
            <a:r>
              <a:rPr dirty="0" sz="2000" spc="-290" b="1">
                <a:latin typeface="Arial"/>
                <a:cs typeface="Arial"/>
              </a:rPr>
              <a:t>4: </a:t>
            </a:r>
            <a:r>
              <a:rPr dirty="0" sz="2000" spc="-280" b="1">
                <a:latin typeface="Arial"/>
                <a:cs typeface="Arial"/>
              </a:rPr>
              <a:t>Integração</a:t>
            </a:r>
            <a:r>
              <a:rPr dirty="0" sz="2000" spc="20" b="1">
                <a:latin typeface="Arial"/>
                <a:cs typeface="Arial"/>
              </a:rPr>
              <a:t> </a:t>
            </a:r>
            <a:r>
              <a:rPr dirty="0" sz="2000" spc="-380" b="1">
                <a:latin typeface="Arial"/>
                <a:cs typeface="Arial"/>
              </a:rPr>
              <a:t>com</a:t>
            </a:r>
            <a:r>
              <a:rPr dirty="0" sz="2000" spc="-310" b="1">
                <a:latin typeface="Arial"/>
                <a:cs typeface="Arial"/>
              </a:rPr>
              <a:t> o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305" b="1">
                <a:latin typeface="Arial"/>
                <a:cs typeface="Arial"/>
              </a:rPr>
              <a:t>banco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285" b="1">
                <a:latin typeface="Arial"/>
                <a:cs typeface="Arial"/>
              </a:rPr>
              <a:t>de </a:t>
            </a:r>
            <a:r>
              <a:rPr dirty="0" sz="2000" spc="-265" b="1">
                <a:latin typeface="Arial"/>
                <a:cs typeface="Arial"/>
              </a:rPr>
              <a:t>dados.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5335" y="4485512"/>
            <a:ext cx="1904364" cy="121475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 indent="598170">
              <a:lnSpc>
                <a:spcPts val="2320"/>
              </a:lnSpc>
              <a:spcBef>
                <a:spcPts val="235"/>
              </a:spcBef>
            </a:pPr>
            <a:r>
              <a:rPr dirty="0" sz="2000" spc="-305" b="1">
                <a:latin typeface="Arial"/>
                <a:cs typeface="Arial"/>
              </a:rPr>
              <a:t>Fase</a:t>
            </a:r>
            <a:r>
              <a:rPr dirty="0" sz="2000" spc="-185" b="1">
                <a:latin typeface="Arial"/>
                <a:cs typeface="Arial"/>
              </a:rPr>
              <a:t> </a:t>
            </a:r>
            <a:r>
              <a:rPr dirty="0" sz="2000" spc="-345" b="1">
                <a:latin typeface="Arial"/>
                <a:cs typeface="Arial"/>
              </a:rPr>
              <a:t>1: </a:t>
            </a:r>
            <a:r>
              <a:rPr dirty="0" sz="2000" spc="-270" b="1">
                <a:latin typeface="Arial"/>
                <a:cs typeface="Arial"/>
              </a:rPr>
              <a:t>Definição</a:t>
            </a:r>
            <a:r>
              <a:rPr dirty="0" sz="2000" spc="10" b="1">
                <a:latin typeface="Arial"/>
                <a:cs typeface="Arial"/>
              </a:rPr>
              <a:t> </a:t>
            </a:r>
            <a:r>
              <a:rPr dirty="0" sz="2000" spc="-275" b="1">
                <a:latin typeface="Arial"/>
                <a:cs typeface="Arial"/>
              </a:rPr>
              <a:t>do</a:t>
            </a:r>
            <a:r>
              <a:rPr dirty="0" sz="2000" spc="15" b="1">
                <a:latin typeface="Arial"/>
                <a:cs typeface="Arial"/>
              </a:rPr>
              <a:t> </a:t>
            </a:r>
            <a:r>
              <a:rPr dirty="0" sz="2000" spc="-330" b="1">
                <a:latin typeface="Arial"/>
                <a:cs typeface="Arial"/>
              </a:rPr>
              <a:t>escopo </a:t>
            </a:r>
            <a:r>
              <a:rPr dirty="0" sz="2000" spc="-280" b="1">
                <a:latin typeface="Arial"/>
                <a:cs typeface="Arial"/>
              </a:rPr>
              <a:t>e</a:t>
            </a:r>
            <a:r>
              <a:rPr dirty="0" sz="2000" spc="-165" b="1">
                <a:latin typeface="Arial"/>
                <a:cs typeface="Arial"/>
              </a:rPr>
              <a:t> </a:t>
            </a:r>
            <a:r>
              <a:rPr dirty="0" sz="2000" spc="-300" b="1">
                <a:latin typeface="Arial"/>
                <a:cs typeface="Arial"/>
              </a:rPr>
              <a:t>levantamento</a:t>
            </a:r>
            <a:r>
              <a:rPr dirty="0" sz="2000" spc="20" b="1">
                <a:latin typeface="Arial"/>
                <a:cs typeface="Arial"/>
              </a:rPr>
              <a:t> </a:t>
            </a:r>
            <a:r>
              <a:rPr dirty="0" sz="2000" spc="-285" b="1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  <a:p>
            <a:pPr marL="453390">
              <a:lnSpc>
                <a:spcPts val="2265"/>
              </a:lnSpc>
            </a:pPr>
            <a:r>
              <a:rPr dirty="0" sz="2000" spc="-150" b="1">
                <a:latin typeface="Arial"/>
                <a:cs typeface="Arial"/>
              </a:rPr>
              <a:t>requisitos.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844857" y="4485512"/>
            <a:ext cx="1844675" cy="920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12775">
              <a:lnSpc>
                <a:spcPts val="2360"/>
              </a:lnSpc>
              <a:spcBef>
                <a:spcPts val="95"/>
              </a:spcBef>
            </a:pPr>
            <a:r>
              <a:rPr dirty="0" sz="2000" spc="-320" b="1">
                <a:latin typeface="Arial"/>
                <a:cs typeface="Arial"/>
              </a:rPr>
              <a:t>Fase</a:t>
            </a:r>
            <a:r>
              <a:rPr dirty="0" sz="2000" spc="-140" b="1">
                <a:latin typeface="Arial"/>
                <a:cs typeface="Arial"/>
              </a:rPr>
              <a:t> </a:t>
            </a:r>
            <a:r>
              <a:rPr dirty="0" sz="2000" spc="-305" b="1">
                <a:latin typeface="Arial"/>
                <a:cs typeface="Arial"/>
              </a:rPr>
              <a:t>2:</a:t>
            </a:r>
            <a:endParaRPr sz="2000">
              <a:latin typeface="Arial"/>
              <a:cs typeface="Arial"/>
            </a:endParaRPr>
          </a:p>
          <a:p>
            <a:pPr marL="12700" marR="5080" indent="251460">
              <a:lnSpc>
                <a:spcPts val="2320"/>
              </a:lnSpc>
              <a:spcBef>
                <a:spcPts val="105"/>
              </a:spcBef>
            </a:pPr>
            <a:r>
              <a:rPr dirty="0" sz="2000" spc="-325" b="1">
                <a:latin typeface="Arial"/>
                <a:cs typeface="Arial"/>
              </a:rPr>
              <a:t>Criação</a:t>
            </a:r>
            <a:r>
              <a:rPr dirty="0" sz="2000" spc="275" b="1">
                <a:latin typeface="Arial"/>
                <a:cs typeface="Arial"/>
              </a:rPr>
              <a:t> </a:t>
            </a:r>
            <a:r>
              <a:rPr dirty="0" sz="2000" spc="-260" b="1">
                <a:latin typeface="Arial"/>
                <a:cs typeface="Arial"/>
              </a:rPr>
              <a:t>da</a:t>
            </a:r>
            <a:r>
              <a:rPr dirty="0" sz="2000" spc="-140" b="1">
                <a:latin typeface="Arial"/>
                <a:cs typeface="Arial"/>
              </a:rPr>
              <a:t> </a:t>
            </a:r>
            <a:r>
              <a:rPr dirty="0" sz="2000" spc="-345" b="1">
                <a:latin typeface="Arial"/>
                <a:cs typeface="Arial"/>
              </a:rPr>
              <a:t>API </a:t>
            </a:r>
            <a:r>
              <a:rPr dirty="0" sz="2000" spc="-315" b="1">
                <a:latin typeface="Arial"/>
                <a:cs typeface="Arial"/>
              </a:rPr>
              <a:t>(NodeJS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295" b="1">
                <a:latin typeface="Arial"/>
                <a:cs typeface="Arial"/>
              </a:rPr>
              <a:t>+</a:t>
            </a:r>
            <a:r>
              <a:rPr dirty="0" sz="2000" spc="55" b="1">
                <a:latin typeface="Arial"/>
                <a:cs typeface="Arial"/>
              </a:rPr>
              <a:t> </a:t>
            </a:r>
            <a:r>
              <a:rPr dirty="0" sz="2000" spc="-310" b="1">
                <a:latin typeface="Arial"/>
                <a:cs typeface="Arial"/>
              </a:rPr>
              <a:t>Express).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34779" y="4485512"/>
            <a:ext cx="1958339" cy="155194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38100" marR="30480" indent="600075">
              <a:lnSpc>
                <a:spcPts val="2320"/>
              </a:lnSpc>
              <a:spcBef>
                <a:spcPts val="235"/>
              </a:spcBef>
            </a:pPr>
            <a:r>
              <a:rPr dirty="0" sz="2000" spc="-320" b="1">
                <a:latin typeface="Arial"/>
                <a:cs typeface="Arial"/>
              </a:rPr>
              <a:t>Fase</a:t>
            </a:r>
            <a:r>
              <a:rPr dirty="0" sz="2000" spc="-140" b="1">
                <a:latin typeface="Arial"/>
                <a:cs typeface="Arial"/>
              </a:rPr>
              <a:t> </a:t>
            </a:r>
            <a:r>
              <a:rPr dirty="0" sz="2000" spc="-295" b="1">
                <a:latin typeface="Arial"/>
                <a:cs typeface="Arial"/>
              </a:rPr>
              <a:t>3: </a:t>
            </a:r>
            <a:r>
              <a:rPr dirty="0" sz="2000" spc="-370" b="1">
                <a:latin typeface="Arial"/>
                <a:cs typeface="Arial"/>
              </a:rPr>
              <a:t>Dese</a:t>
            </a:r>
            <a:r>
              <a:rPr dirty="0" sz="2000" spc="-175" b="1">
                <a:latin typeface="Arial"/>
                <a:cs typeface="Arial"/>
              </a:rPr>
              <a:t>n</a:t>
            </a:r>
            <a:r>
              <a:rPr dirty="0" sz="2000" spc="-370" b="1">
                <a:latin typeface="Arial"/>
                <a:cs typeface="Arial"/>
              </a:rPr>
              <a:t>v</a:t>
            </a:r>
            <a:r>
              <a:rPr dirty="0" sz="2000" spc="-175" b="1">
                <a:latin typeface="Arial"/>
                <a:cs typeface="Arial"/>
              </a:rPr>
              <a:t>o</a:t>
            </a:r>
            <a:r>
              <a:rPr dirty="0" sz="2000" spc="-170" b="1">
                <a:latin typeface="Arial"/>
                <a:cs typeface="Arial"/>
              </a:rPr>
              <a:t>l</a:t>
            </a:r>
            <a:r>
              <a:rPr dirty="0" sz="2000" spc="-1280" b="1">
                <a:latin typeface="Arial"/>
                <a:cs typeface="Arial"/>
              </a:rPr>
              <a:t>v</a:t>
            </a:r>
            <a:r>
              <a:rPr dirty="0" baseline="-23504" sz="1950" spc="-390">
                <a:latin typeface="Trebuchet MS"/>
                <a:cs typeface="Trebuchet MS"/>
              </a:rPr>
              <a:t>.</a:t>
            </a:r>
            <a:r>
              <a:rPr dirty="0" baseline="-23504" sz="1950" spc="150">
                <a:latin typeface="Trebuchet MS"/>
                <a:cs typeface="Trebuchet MS"/>
              </a:rPr>
              <a:t> </a:t>
            </a:r>
            <a:r>
              <a:rPr dirty="0" sz="2000" spc="-270" b="1">
                <a:latin typeface="Arial"/>
                <a:cs typeface="Arial"/>
              </a:rPr>
              <a:t>imento</a:t>
            </a:r>
            <a:r>
              <a:rPr dirty="0" sz="2000" spc="75" b="1">
                <a:latin typeface="Arial"/>
                <a:cs typeface="Arial"/>
              </a:rPr>
              <a:t> </a:t>
            </a:r>
            <a:r>
              <a:rPr dirty="0" sz="2000" spc="-290" b="1">
                <a:latin typeface="Arial"/>
                <a:cs typeface="Arial"/>
              </a:rPr>
              <a:t>do </a:t>
            </a:r>
            <a:r>
              <a:rPr dirty="0" sz="2000" spc="-245" b="1">
                <a:latin typeface="Arial"/>
                <a:cs typeface="Arial"/>
              </a:rPr>
              <a:t>aplicativo</a:t>
            </a:r>
            <a:r>
              <a:rPr dirty="0" sz="2000" spc="65" b="1">
                <a:latin typeface="Arial"/>
                <a:cs typeface="Arial"/>
              </a:rPr>
              <a:t> </a:t>
            </a:r>
            <a:r>
              <a:rPr dirty="0" sz="2000" spc="-75" b="1">
                <a:latin typeface="Arial"/>
                <a:cs typeface="Arial"/>
              </a:rPr>
              <a:t>mobile</a:t>
            </a:r>
            <a:endParaRPr sz="2000">
              <a:latin typeface="Arial"/>
              <a:cs typeface="Arial"/>
            </a:endParaRPr>
          </a:p>
          <a:p>
            <a:pPr algn="ctr" marR="53340">
              <a:lnSpc>
                <a:spcPts val="2265"/>
              </a:lnSpc>
            </a:pPr>
            <a:r>
              <a:rPr dirty="0" sz="2000" spc="-320" b="1">
                <a:latin typeface="Arial"/>
                <a:cs typeface="Arial"/>
              </a:rPr>
              <a:t>(React</a:t>
            </a:r>
            <a:r>
              <a:rPr dirty="0" sz="2000" spc="204" b="1">
                <a:latin typeface="Arial"/>
                <a:cs typeface="Arial"/>
              </a:rPr>
              <a:t> </a:t>
            </a:r>
            <a:r>
              <a:rPr dirty="0" sz="2000" spc="-290" b="1">
                <a:latin typeface="Arial"/>
                <a:cs typeface="Arial"/>
              </a:rPr>
              <a:t>Native</a:t>
            </a:r>
            <a:r>
              <a:rPr dirty="0" sz="2000" spc="120" b="1">
                <a:latin typeface="Arial"/>
                <a:cs typeface="Arial"/>
              </a:rPr>
              <a:t> </a:t>
            </a:r>
            <a:r>
              <a:rPr dirty="0" sz="2000" spc="-345" b="1">
                <a:latin typeface="Arial"/>
                <a:cs typeface="Arial"/>
              </a:rPr>
              <a:t>+</a:t>
            </a:r>
            <a:endParaRPr sz="2000">
              <a:latin typeface="Arial"/>
              <a:cs typeface="Arial"/>
            </a:endParaRPr>
          </a:p>
          <a:p>
            <a:pPr algn="ctr" marR="15875">
              <a:lnSpc>
                <a:spcPct val="100000"/>
              </a:lnSpc>
              <a:spcBef>
                <a:spcPts val="254"/>
              </a:spcBef>
            </a:pPr>
            <a:r>
              <a:rPr dirty="0" sz="2000" spc="-90" b="1">
                <a:latin typeface="Arial"/>
                <a:cs typeface="Arial"/>
              </a:rPr>
              <a:t>Expo).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10"/>
              </a:spcBef>
            </a:pPr>
            <a:r>
              <a:rPr dirty="0" sz="3650" spc="-310"/>
              <a:t>2.CRONOGRAMA</a:t>
            </a:r>
            <a:endParaRPr sz="3650"/>
          </a:p>
        </p:txBody>
      </p:sp>
      <p:grpSp>
        <p:nvGrpSpPr>
          <p:cNvPr id="17" name="object 17" descr=""/>
          <p:cNvGrpSpPr/>
          <p:nvPr/>
        </p:nvGrpSpPr>
        <p:grpSpPr>
          <a:xfrm>
            <a:off x="762000" y="2840532"/>
            <a:ext cx="8562975" cy="1144270"/>
            <a:chOff x="762000" y="2840532"/>
            <a:chExt cx="8562975" cy="1144270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000" y="2840532"/>
              <a:ext cx="1143000" cy="114383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48025" y="3012109"/>
              <a:ext cx="1076325" cy="80068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53100" y="3012109"/>
              <a:ext cx="1076325" cy="80068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48650" y="3012109"/>
              <a:ext cx="1076325" cy="8006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" y="6728012"/>
            <a:ext cx="10073005" cy="12700"/>
          </a:xfrm>
          <a:custGeom>
            <a:avLst/>
            <a:gdLst/>
            <a:ahLst/>
            <a:cxnLst/>
            <a:rect l="l" t="t" r="r" b="b"/>
            <a:pathLst>
              <a:path w="10073005" h="12700">
                <a:moveTo>
                  <a:pt x="10072687" y="0"/>
                </a:moveTo>
                <a:lnTo>
                  <a:pt x="0" y="0"/>
                </a:lnTo>
                <a:lnTo>
                  <a:pt x="0" y="12706"/>
                </a:lnTo>
                <a:lnTo>
                  <a:pt x="10072687" y="12706"/>
                </a:lnTo>
                <a:lnTo>
                  <a:pt x="10072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130"/>
              </a:spcBef>
            </a:pPr>
            <a:r>
              <a:rPr dirty="0" spc="290"/>
              <a:t>3.TECNOLOGIAS</a:t>
            </a:r>
            <a:r>
              <a:rPr dirty="0" spc="-125"/>
              <a:t> </a:t>
            </a:r>
            <a:r>
              <a:rPr dirty="0" spc="320"/>
              <a:t>UTILIZADAS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04495" y="1510918"/>
            <a:ext cx="7694930" cy="5069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160" algn="l"/>
              </a:tabLst>
            </a:pPr>
            <a:r>
              <a:rPr dirty="0" sz="2000">
                <a:latin typeface="Arial MT"/>
                <a:cs typeface="Arial MT"/>
              </a:rPr>
              <a:t>Frontend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(Aplicativo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Mobile)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64795" marR="1145540" indent="-252095">
              <a:lnSpc>
                <a:spcPct val="122100"/>
              </a:lnSpc>
              <a:spcBef>
                <a:spcPts val="5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64795" algn="l"/>
              </a:tabLst>
            </a:pPr>
            <a:r>
              <a:rPr dirty="0" sz="2000">
                <a:latin typeface="Arial MT"/>
                <a:cs typeface="Arial MT"/>
              </a:rPr>
              <a:t>JavaScript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(React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Native)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(criação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interface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mobile multiplataforma).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3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64160" algn="l"/>
              </a:tabLst>
            </a:pPr>
            <a:r>
              <a:rPr dirty="0" sz="2000">
                <a:latin typeface="Arial MT"/>
                <a:cs typeface="Arial MT"/>
              </a:rPr>
              <a:t>EXPO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(facilita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desenvolvimento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testes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Expo</a:t>
            </a:r>
            <a:r>
              <a:rPr dirty="0" sz="2000" spc="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Go).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1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64160" algn="l"/>
              </a:tabLst>
            </a:pPr>
            <a:r>
              <a:rPr dirty="0" sz="2000">
                <a:latin typeface="Arial MT"/>
                <a:cs typeface="Arial MT"/>
              </a:rPr>
              <a:t>Axios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(realiza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comunicação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backend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via</a:t>
            </a:r>
            <a:r>
              <a:rPr dirty="0" sz="2000" spc="-1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REST).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4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64160" algn="l"/>
              </a:tabLst>
            </a:pPr>
            <a:r>
              <a:rPr dirty="0" sz="2000">
                <a:latin typeface="Arial MT"/>
                <a:cs typeface="Arial MT"/>
              </a:rPr>
              <a:t>AsyncStorage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(guarda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dados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como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token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login).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1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64160" algn="l"/>
              </a:tabLst>
            </a:pPr>
            <a:r>
              <a:rPr dirty="0" sz="2000">
                <a:latin typeface="Arial MT"/>
                <a:cs typeface="Arial MT"/>
              </a:rPr>
              <a:t>React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Navigation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(controla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navegação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telas).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7050" y="328930"/>
            <a:ext cx="8671560" cy="64433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 spc="-10">
                <a:latin typeface="Arial MT"/>
                <a:cs typeface="Arial MT"/>
              </a:rPr>
              <a:t>Context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 –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(mantém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estado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global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usuário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autenticação).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Backend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(Servidor)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NodeJS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(ambiente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JavaScript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servidor).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ExpressJS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(criação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REST</a:t>
            </a:r>
            <a:r>
              <a:rPr dirty="0" sz="2000" spc="-1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API com rotas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organizadas).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12700" marR="1040765" indent="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MongoDB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(banco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dados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utilizado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para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armazenar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usuários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e </a:t>
            </a:r>
            <a:r>
              <a:rPr dirty="0" sz="2000" spc="-10">
                <a:latin typeface="Arial MT"/>
                <a:cs typeface="Arial MT"/>
              </a:rPr>
              <a:t>agendamentos).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Mongoose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(modelagem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dados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manipulação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banco).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5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JWT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(JSON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Token)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(autenticação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controle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acesso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seguro).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spcBef>
                <a:spcPts val="5"/>
              </a:spcBef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Dotenv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(gerenciamento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variáveis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ambiente).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220345" indent="-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Cors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(controle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acesso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servidor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aplicativo).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0D584D"/>
              </a:buClr>
              <a:buFont typeface="Calibri"/>
              <a:buChar char="●"/>
            </a:pPr>
            <a:endParaRPr sz="2000">
              <a:latin typeface="Arial MT"/>
              <a:cs typeface="Arial MT"/>
            </a:endParaRPr>
          </a:p>
          <a:p>
            <a:pPr marL="12700" marR="5080" indent="207645">
              <a:lnSpc>
                <a:spcPct val="100000"/>
              </a:lnSpc>
              <a:buClr>
                <a:srgbClr val="0D584D"/>
              </a:buClr>
              <a:buSzPct val="45000"/>
              <a:buFont typeface="Calibri"/>
              <a:buChar char="●"/>
              <a:tabLst>
                <a:tab pos="220345" algn="l"/>
              </a:tabLst>
            </a:pPr>
            <a:r>
              <a:rPr dirty="0" sz="2000">
                <a:latin typeface="Arial MT"/>
                <a:cs typeface="Arial MT"/>
              </a:rPr>
              <a:t>O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banco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dados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utilizado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(MongoDB)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pode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facilmente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adaptado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para </a:t>
            </a:r>
            <a:r>
              <a:rPr dirty="0" sz="2000" spc="-10">
                <a:latin typeface="Arial MT"/>
                <a:cs typeface="Arial MT"/>
              </a:rPr>
              <a:t>PostgreSQL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ou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SQLite,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conforme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necessidade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futura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projeto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62" y="6728012"/>
            <a:ext cx="10073005" cy="12700"/>
          </a:xfrm>
          <a:custGeom>
            <a:avLst/>
            <a:gdLst/>
            <a:ahLst/>
            <a:cxnLst/>
            <a:rect l="l" t="t" r="r" b="b"/>
            <a:pathLst>
              <a:path w="10073005" h="12700">
                <a:moveTo>
                  <a:pt x="10072687" y="0"/>
                </a:moveTo>
                <a:lnTo>
                  <a:pt x="0" y="0"/>
                </a:lnTo>
                <a:lnTo>
                  <a:pt x="0" y="12706"/>
                </a:lnTo>
                <a:lnTo>
                  <a:pt x="10072687" y="12706"/>
                </a:lnTo>
                <a:lnTo>
                  <a:pt x="100726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128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dirty="0" spc="280"/>
              <a:t>4.FUNCIONALIDADES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Cadastro</a:t>
            </a:r>
            <a:r>
              <a:rPr dirty="0" spc="135"/>
              <a:t> </a:t>
            </a:r>
            <a:r>
              <a:rPr dirty="0"/>
              <a:t>e</a:t>
            </a:r>
            <a:r>
              <a:rPr dirty="0" spc="145"/>
              <a:t> </a:t>
            </a:r>
            <a:r>
              <a:rPr dirty="0"/>
              <a:t>login</a:t>
            </a:r>
            <a:r>
              <a:rPr dirty="0" spc="140"/>
              <a:t> </a:t>
            </a:r>
            <a:r>
              <a:rPr dirty="0"/>
              <a:t>de</a:t>
            </a:r>
            <a:r>
              <a:rPr dirty="0" spc="135"/>
              <a:t> </a:t>
            </a:r>
            <a:r>
              <a:rPr dirty="0"/>
              <a:t>usuários</a:t>
            </a:r>
            <a:r>
              <a:rPr dirty="0" spc="175"/>
              <a:t> </a:t>
            </a:r>
            <a:r>
              <a:rPr dirty="0"/>
              <a:t>com</a:t>
            </a:r>
            <a:r>
              <a:rPr dirty="0" spc="240"/>
              <a:t> </a:t>
            </a:r>
            <a:r>
              <a:rPr dirty="0"/>
              <a:t>autenticação</a:t>
            </a:r>
            <a:r>
              <a:rPr dirty="0" spc="140"/>
              <a:t> </a:t>
            </a:r>
            <a:r>
              <a:rPr dirty="0" spc="-20"/>
              <a:t>JWT.</a:t>
            </a:r>
          </a:p>
          <a:p>
            <a:pPr>
              <a:lnSpc>
                <a:spcPct val="100000"/>
              </a:lnSpc>
              <a:spcBef>
                <a:spcPts val="1960"/>
              </a:spcBef>
              <a:buClr>
                <a:srgbClr val="0D584D"/>
              </a:buClr>
              <a:buFont typeface="Calibri"/>
              <a:buChar char="●"/>
            </a:pPr>
          </a:p>
          <a:p>
            <a:pPr marL="264160" indent="-251460">
              <a:lnSpc>
                <a:spcPct val="100000"/>
              </a:lnSpc>
              <a:spcBef>
                <a:spcPts val="5"/>
              </a:spcBef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Recuperação</a:t>
            </a:r>
            <a:r>
              <a:rPr dirty="0" spc="165"/>
              <a:t> </a:t>
            </a:r>
            <a:r>
              <a:rPr dirty="0"/>
              <a:t>e</a:t>
            </a:r>
            <a:r>
              <a:rPr dirty="0" spc="175"/>
              <a:t> </a:t>
            </a:r>
            <a:r>
              <a:rPr dirty="0"/>
              <a:t>alteração</a:t>
            </a:r>
            <a:r>
              <a:rPr dirty="0" spc="165"/>
              <a:t> </a:t>
            </a:r>
            <a:r>
              <a:rPr dirty="0"/>
              <a:t>de</a:t>
            </a:r>
            <a:r>
              <a:rPr dirty="0" spc="170"/>
              <a:t> </a:t>
            </a:r>
            <a:r>
              <a:rPr dirty="0" spc="-10"/>
              <a:t>senha.</a:t>
            </a:r>
          </a:p>
          <a:p>
            <a:pPr>
              <a:lnSpc>
                <a:spcPct val="100000"/>
              </a:lnSpc>
              <a:spcBef>
                <a:spcPts val="1960"/>
              </a:spcBef>
              <a:buClr>
                <a:srgbClr val="0D584D"/>
              </a:buClr>
              <a:buFont typeface="Calibri"/>
              <a:buChar char="●"/>
            </a:pPr>
          </a:p>
          <a:p>
            <a:pPr marL="264160" indent="-251460">
              <a:lnSpc>
                <a:spcPct val="100000"/>
              </a:lnSpc>
              <a:spcBef>
                <a:spcPts val="5"/>
              </a:spcBef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Seleção</a:t>
            </a:r>
            <a:r>
              <a:rPr dirty="0" spc="130"/>
              <a:t> </a:t>
            </a:r>
            <a:r>
              <a:rPr dirty="0"/>
              <a:t>de</a:t>
            </a:r>
            <a:r>
              <a:rPr dirty="0" spc="130"/>
              <a:t> </a:t>
            </a:r>
            <a:r>
              <a:rPr dirty="0"/>
              <a:t>barbeiro,</a:t>
            </a:r>
            <a:r>
              <a:rPr dirty="0" spc="125"/>
              <a:t> </a:t>
            </a:r>
            <a:r>
              <a:rPr dirty="0"/>
              <a:t>data</a:t>
            </a:r>
            <a:r>
              <a:rPr dirty="0" spc="135"/>
              <a:t> </a:t>
            </a:r>
            <a:r>
              <a:rPr dirty="0"/>
              <a:t>e</a:t>
            </a:r>
            <a:r>
              <a:rPr dirty="0" spc="140"/>
              <a:t> </a:t>
            </a:r>
            <a:r>
              <a:rPr dirty="0" spc="-10"/>
              <a:t>horário.</a:t>
            </a:r>
          </a:p>
          <a:p>
            <a:pPr>
              <a:lnSpc>
                <a:spcPct val="100000"/>
              </a:lnSpc>
              <a:spcBef>
                <a:spcPts val="1964"/>
              </a:spcBef>
              <a:buClr>
                <a:srgbClr val="0D584D"/>
              </a:buClr>
              <a:buFont typeface="Calibri"/>
              <a:buChar char="●"/>
            </a:p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Agendamento</a:t>
            </a:r>
            <a:r>
              <a:rPr dirty="0" spc="204"/>
              <a:t> </a:t>
            </a:r>
            <a:r>
              <a:rPr dirty="0"/>
              <a:t>e</a:t>
            </a:r>
            <a:r>
              <a:rPr dirty="0" spc="204"/>
              <a:t> </a:t>
            </a:r>
            <a:r>
              <a:rPr dirty="0"/>
              <a:t>cancelamento</a:t>
            </a:r>
            <a:r>
              <a:rPr dirty="0" spc="204"/>
              <a:t> </a:t>
            </a:r>
            <a:r>
              <a:rPr dirty="0"/>
              <a:t>de</a:t>
            </a:r>
            <a:r>
              <a:rPr dirty="0" spc="195"/>
              <a:t> </a:t>
            </a:r>
            <a:r>
              <a:rPr dirty="0" spc="-10"/>
              <a:t>serviços.</a:t>
            </a:r>
          </a:p>
          <a:p>
            <a:pPr>
              <a:lnSpc>
                <a:spcPct val="100000"/>
              </a:lnSpc>
              <a:spcBef>
                <a:spcPts val="1960"/>
              </a:spcBef>
              <a:buClr>
                <a:srgbClr val="0D584D"/>
              </a:buClr>
              <a:buFont typeface="Calibri"/>
              <a:buChar char="●"/>
            </a:pPr>
          </a:p>
          <a:p>
            <a:pPr marL="264160" indent="-251460">
              <a:lnSpc>
                <a:spcPct val="100000"/>
              </a:lnSpc>
              <a:spcBef>
                <a:spcPts val="5"/>
              </a:spcBef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Listagem</a:t>
            </a:r>
            <a:r>
              <a:rPr dirty="0" spc="150"/>
              <a:t> </a:t>
            </a:r>
            <a:r>
              <a:rPr dirty="0"/>
              <a:t>de</a:t>
            </a:r>
            <a:r>
              <a:rPr dirty="0" spc="150"/>
              <a:t> </a:t>
            </a:r>
            <a:r>
              <a:rPr dirty="0"/>
              <a:t>agendamentos</a:t>
            </a:r>
            <a:r>
              <a:rPr dirty="0" spc="185"/>
              <a:t> </a:t>
            </a:r>
            <a:r>
              <a:rPr dirty="0"/>
              <a:t>ativos</a:t>
            </a:r>
            <a:r>
              <a:rPr dirty="0" spc="190"/>
              <a:t> </a:t>
            </a:r>
            <a:r>
              <a:rPr dirty="0"/>
              <a:t>e</a:t>
            </a:r>
            <a:r>
              <a:rPr dirty="0" spc="150"/>
              <a:t> </a:t>
            </a:r>
            <a:r>
              <a:rPr dirty="0" spc="-10"/>
              <a:t>passados.</a:t>
            </a:r>
          </a:p>
          <a:p>
            <a:pPr>
              <a:lnSpc>
                <a:spcPct val="100000"/>
              </a:lnSpc>
              <a:spcBef>
                <a:spcPts val="1964"/>
              </a:spcBef>
              <a:buClr>
                <a:srgbClr val="0D584D"/>
              </a:buClr>
              <a:buFont typeface="Calibri"/>
              <a:buChar char="●"/>
            </a:pPr>
          </a:p>
          <a:p>
            <a:pPr marL="264160" indent="-251460">
              <a:lnSpc>
                <a:spcPct val="100000"/>
              </a:lnSpc>
              <a:buClr>
                <a:srgbClr val="0D584D"/>
              </a:buClr>
              <a:buSzPct val="43243"/>
              <a:buFont typeface="Calibri"/>
              <a:buChar char="●"/>
              <a:tabLst>
                <a:tab pos="264160" algn="l"/>
              </a:tabLst>
            </a:pPr>
            <a:r>
              <a:rPr dirty="0"/>
              <a:t>Perfil</a:t>
            </a:r>
            <a:r>
              <a:rPr dirty="0" spc="120"/>
              <a:t> </a:t>
            </a:r>
            <a:r>
              <a:rPr dirty="0"/>
              <a:t>do</a:t>
            </a:r>
            <a:r>
              <a:rPr dirty="0" spc="90"/>
              <a:t> </a:t>
            </a:r>
            <a:r>
              <a:rPr dirty="0"/>
              <a:t>usuário</a:t>
            </a:r>
            <a:r>
              <a:rPr dirty="0" spc="180"/>
              <a:t> </a:t>
            </a:r>
            <a:r>
              <a:rPr dirty="0"/>
              <a:t>com</a:t>
            </a:r>
            <a:r>
              <a:rPr dirty="0" spc="185"/>
              <a:t> </a:t>
            </a:r>
            <a:r>
              <a:rPr dirty="0"/>
              <a:t>informações</a:t>
            </a:r>
            <a:r>
              <a:rPr dirty="0" spc="125"/>
              <a:t> </a:t>
            </a:r>
            <a:r>
              <a:rPr dirty="0"/>
              <a:t>e</a:t>
            </a:r>
            <a:r>
              <a:rPr dirty="0" spc="100"/>
              <a:t> </a:t>
            </a:r>
            <a:r>
              <a:rPr dirty="0" spc="-10"/>
              <a:t>foto.</a:t>
            </a:r>
          </a:p>
          <a:p>
            <a:pPr>
              <a:lnSpc>
                <a:spcPct val="100000"/>
              </a:lnSpc>
              <a:spcBef>
                <a:spcPts val="1964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5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9272" y="440690"/>
            <a:ext cx="5492115" cy="854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105"/>
              </a:spcBef>
              <a:buClr>
                <a:srgbClr val="0D584D"/>
              </a:buClr>
              <a:buSzPct val="44444"/>
              <a:buFont typeface="Calibri"/>
              <a:buChar char="●"/>
              <a:tabLst>
                <a:tab pos="196850" algn="l"/>
              </a:tabLst>
            </a:pPr>
            <a:r>
              <a:rPr dirty="0" sz="1800">
                <a:latin typeface="Arial MT"/>
                <a:cs typeface="Arial MT"/>
              </a:rPr>
              <a:t>Painel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administrativo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gerenciamento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dados.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0D584D"/>
              </a:buClr>
              <a:buFont typeface="Calibri"/>
              <a:buChar char="●"/>
            </a:pPr>
            <a:endParaRPr sz="1800">
              <a:latin typeface="Arial MT"/>
              <a:cs typeface="Arial MT"/>
            </a:endParaRPr>
          </a:p>
          <a:p>
            <a:pPr marL="196850" indent="-184150">
              <a:lnSpc>
                <a:spcPct val="100000"/>
              </a:lnSpc>
              <a:buClr>
                <a:srgbClr val="0D584D"/>
              </a:buClr>
              <a:buSzPct val="44444"/>
              <a:buFont typeface="Calibri"/>
              <a:buChar char="●"/>
              <a:tabLst>
                <a:tab pos="196850" algn="l"/>
              </a:tabLst>
            </a:pPr>
            <a:r>
              <a:rPr dirty="0" sz="1800">
                <a:latin typeface="Arial MT"/>
                <a:cs typeface="Arial MT"/>
              </a:rPr>
              <a:t>Detecção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conexão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internet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modo</a:t>
            </a:r>
            <a:r>
              <a:rPr dirty="0" sz="1800" spc="-10">
                <a:latin typeface="Arial MT"/>
                <a:cs typeface="Arial MT"/>
              </a:rPr>
              <a:t> offline.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1973059"/>
            <a:ext cx="10073005" cy="4768215"/>
            <a:chOff x="4762" y="1973059"/>
            <a:chExt cx="10073005" cy="4768215"/>
          </a:xfrm>
        </p:grpSpPr>
        <p:sp>
          <p:nvSpPr>
            <p:cNvPr id="3" name="object 3" descr=""/>
            <p:cNvSpPr/>
            <p:nvPr/>
          </p:nvSpPr>
          <p:spPr>
            <a:xfrm>
              <a:off x="4762" y="6728012"/>
              <a:ext cx="10073005" cy="12700"/>
            </a:xfrm>
            <a:custGeom>
              <a:avLst/>
              <a:gdLst/>
              <a:ahLst/>
              <a:cxnLst/>
              <a:rect l="l" t="t" r="r" b="b"/>
              <a:pathLst>
                <a:path w="10073005" h="12700">
                  <a:moveTo>
                    <a:pt x="10072687" y="0"/>
                  </a:moveTo>
                  <a:lnTo>
                    <a:pt x="0" y="0"/>
                  </a:lnTo>
                  <a:lnTo>
                    <a:pt x="0" y="12706"/>
                  </a:lnTo>
                  <a:lnTo>
                    <a:pt x="10072687" y="12706"/>
                  </a:lnTo>
                  <a:lnTo>
                    <a:pt x="1007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450" y="1973122"/>
              <a:ext cx="3086100" cy="475297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3725" y="1973122"/>
              <a:ext cx="2876550" cy="475297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225" y="1973059"/>
              <a:ext cx="3086100" cy="475653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7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135"/>
              <a:t>5.TELAS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815975" y="1561718"/>
            <a:ext cx="176212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latin typeface="Arial MT"/>
                <a:cs typeface="Arial MT"/>
              </a:rPr>
              <a:t>TELA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 </a:t>
            </a:r>
            <a:r>
              <a:rPr dirty="0" sz="1800" spc="-10">
                <a:latin typeface="Arial MT"/>
                <a:cs typeface="Arial MT"/>
              </a:rPr>
              <a:t>LOGIN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30140" y="1561718"/>
            <a:ext cx="129921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latin typeface="Arial MT"/>
                <a:cs typeface="Arial MT"/>
              </a:rPr>
              <a:t>CADASTRO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93306" y="1561718"/>
            <a:ext cx="292290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Arial MT"/>
                <a:cs typeface="Arial MT"/>
              </a:rPr>
              <a:t>RECUPERAÇÃO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90">
                <a:latin typeface="Trebuchet MS"/>
                <a:cs typeface="Trebuchet MS"/>
              </a:rPr>
              <a:t>DE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55">
                <a:latin typeface="Trebuchet MS"/>
                <a:cs typeface="Trebuchet MS"/>
              </a:rPr>
              <a:t>SENHA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1687182"/>
            <a:ext cx="10073005" cy="5053965"/>
            <a:chOff x="4762" y="1687182"/>
            <a:chExt cx="10073005" cy="50539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1350" y="1687182"/>
              <a:ext cx="2876550" cy="50386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1687182"/>
              <a:ext cx="3162300" cy="50386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550" y="1687182"/>
              <a:ext cx="3076575" cy="504240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35000" y="1346898"/>
            <a:ext cx="22142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TELA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SEM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175">
                <a:latin typeface="Trebuchet MS"/>
                <a:cs typeface="Trebuchet MS"/>
              </a:rPr>
              <a:t>CONEXÃO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17695" y="1346898"/>
            <a:ext cx="13874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TELA</a:t>
            </a:r>
            <a:r>
              <a:rPr dirty="0" sz="1800" spc="25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INICIAL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73543" y="1346898"/>
            <a:ext cx="2430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5">
                <a:latin typeface="Trebuchet MS"/>
                <a:cs typeface="Trebuchet MS"/>
              </a:rPr>
              <a:t>2°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40">
                <a:latin typeface="Arial MT"/>
                <a:cs typeface="Arial MT"/>
              </a:rPr>
              <a:t>PARTE</a:t>
            </a:r>
            <a:r>
              <a:rPr dirty="0" sz="1800" spc="-220">
                <a:latin typeface="Arial MT"/>
                <a:cs typeface="Arial MT"/>
              </a:rPr>
              <a:t> </a:t>
            </a:r>
            <a:r>
              <a:rPr dirty="0" sz="1800">
                <a:latin typeface="Trebuchet MS"/>
                <a:cs typeface="Trebuchet MS"/>
              </a:rPr>
              <a:t>TELA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 spc="45">
                <a:latin typeface="Trebuchet MS"/>
                <a:cs typeface="Trebuchet MS"/>
              </a:rPr>
              <a:t>INICIAL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1696720"/>
            <a:ext cx="10073005" cy="5044440"/>
            <a:chOff x="4762" y="1696720"/>
            <a:chExt cx="10073005" cy="50444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696720"/>
              <a:ext cx="3019425" cy="50386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2275" y="1696720"/>
              <a:ext cx="3009900" cy="50386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2350" y="1696720"/>
              <a:ext cx="2971800" cy="50386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42010" y="1357312"/>
            <a:ext cx="21393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TELA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 spc="90">
                <a:latin typeface="Trebuchet MS"/>
                <a:cs typeface="Trebuchet MS"/>
              </a:rPr>
              <a:t>DE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 spc="-10">
                <a:latin typeface="Arial MT"/>
                <a:cs typeface="Arial MT"/>
              </a:rPr>
              <a:t>SERVIÇOS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69970" y="1357312"/>
            <a:ext cx="30797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TELA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 spc="155">
                <a:latin typeface="Trebuchet MS"/>
                <a:cs typeface="Trebuchet MS"/>
              </a:rPr>
              <a:t>DOS</a:t>
            </a:r>
            <a:r>
              <a:rPr dirty="0" sz="1800" spc="-20">
                <a:latin typeface="Trebuchet MS"/>
                <a:cs typeface="Trebuchet MS"/>
              </a:rPr>
              <a:t> </a:t>
            </a:r>
            <a:r>
              <a:rPr dirty="0" sz="1800" spc="-10">
                <a:latin typeface="Arial MT"/>
                <a:cs typeface="Arial MT"/>
              </a:rPr>
              <a:t>AGENDAMENTOS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09383" y="1357312"/>
            <a:ext cx="26581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SELEÇÃO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90">
                <a:latin typeface="Trebuchet MS"/>
                <a:cs typeface="Trebuchet MS"/>
              </a:rPr>
              <a:t>DE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 spc="80">
                <a:latin typeface="Trebuchet MS"/>
                <a:cs typeface="Trebuchet MS"/>
              </a:rPr>
              <a:t>HORARIOS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1677657"/>
            <a:ext cx="10073005" cy="5063490"/>
            <a:chOff x="4762" y="1677657"/>
            <a:chExt cx="10073005" cy="50634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9900" y="1677657"/>
              <a:ext cx="2971800" cy="50386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2825" y="1677657"/>
              <a:ext cx="3019425" cy="504240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677657"/>
              <a:ext cx="2952750" cy="50386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836612" y="1058481"/>
            <a:ext cx="2019935" cy="577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63500" marR="5080" indent="-51435">
              <a:lnSpc>
                <a:spcPct val="100899"/>
              </a:lnSpc>
              <a:spcBef>
                <a:spcPts val="80"/>
              </a:spcBef>
            </a:pPr>
            <a:r>
              <a:rPr dirty="0" sz="1800">
                <a:latin typeface="Arial MT"/>
                <a:cs typeface="Arial MT"/>
              </a:rPr>
              <a:t>COSULTA</a:t>
            </a:r>
            <a:r>
              <a:rPr dirty="0" sz="1800" spc="13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DOS </a:t>
            </a:r>
            <a:r>
              <a:rPr dirty="0" sz="1800" spc="-10">
                <a:latin typeface="Arial MT"/>
                <a:cs typeface="Arial MT"/>
              </a:rPr>
              <a:t>AGENDAMENTOS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433826" y="1336357"/>
            <a:ext cx="3429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TELA</a:t>
            </a:r>
            <a:r>
              <a:rPr dirty="0" sz="1800" spc="40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PERFIL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USUARIO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46950" y="1336357"/>
            <a:ext cx="207898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 MT"/>
                <a:cs typeface="Arial MT"/>
              </a:rPr>
              <a:t>2°TELA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PERFIL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762" y="1782546"/>
            <a:ext cx="10073005" cy="4966335"/>
            <a:chOff x="4762" y="1782546"/>
            <a:chExt cx="10073005" cy="49663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5225" y="1820672"/>
              <a:ext cx="2857500" cy="492798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" y="1820672"/>
              <a:ext cx="3048000" cy="492798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675" y="1782546"/>
              <a:ext cx="2857500" cy="4927981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971671" y="1197863"/>
            <a:ext cx="2059305" cy="5778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dirty="0" sz="1800">
                <a:latin typeface="Arial MT"/>
                <a:cs typeface="Arial MT"/>
              </a:rPr>
              <a:t>2°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TELA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ADMIN </a:t>
            </a:r>
            <a:r>
              <a:rPr dirty="0" sz="1800" spc="-10">
                <a:latin typeface="Arial MT"/>
                <a:cs typeface="Arial MT"/>
              </a:rPr>
              <a:t>SERVIÇOS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7402" y="1197863"/>
            <a:ext cx="2059939" cy="5778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dirty="0" sz="1800">
                <a:latin typeface="Arial MT"/>
                <a:cs typeface="Arial MT"/>
              </a:rPr>
              <a:t>1°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TELA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ADMIN </a:t>
            </a:r>
            <a:r>
              <a:rPr dirty="0" sz="1800" spc="-10">
                <a:latin typeface="Arial MT"/>
                <a:cs typeface="Arial MT"/>
              </a:rPr>
              <a:t>AGENDAMENTOS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88530" y="1197863"/>
            <a:ext cx="2062480" cy="5778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dirty="0" sz="1800">
                <a:latin typeface="Arial MT"/>
                <a:cs typeface="Arial MT"/>
              </a:rPr>
              <a:t>3°</a:t>
            </a:r>
            <a:r>
              <a:rPr dirty="0" sz="1800" spc="-10">
                <a:latin typeface="Arial MT"/>
                <a:cs typeface="Arial MT"/>
              </a:rPr>
              <a:t> TELA</a:t>
            </a:r>
            <a:r>
              <a:rPr dirty="0" sz="1800" spc="-114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ADMIN </a:t>
            </a:r>
            <a:r>
              <a:rPr dirty="0" sz="1800" spc="-10">
                <a:latin typeface="Arial MT"/>
                <a:cs typeface="Arial MT"/>
              </a:rPr>
              <a:t>BARBEIROS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7125" y="1820672"/>
            <a:ext cx="2886075" cy="492798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075429" y="1197863"/>
            <a:ext cx="2059939" cy="5778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dirty="0" sz="1800">
                <a:latin typeface="Arial MT"/>
                <a:cs typeface="Arial MT"/>
              </a:rPr>
              <a:t>3°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TELA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ADMIN </a:t>
            </a:r>
            <a:r>
              <a:rPr dirty="0" sz="1800" spc="-10">
                <a:latin typeface="Arial MT"/>
                <a:cs typeface="Arial MT"/>
              </a:rPr>
              <a:t>USUARIOS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FE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2025-11-13T00:46:23Z</dcterms:created>
  <dcterms:modified xsi:type="dcterms:W3CDTF">2025-11-13T00:46:23Z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LastSaved">
    <vt:filetime>2025-11-13T00:00:00Z</vt:filetime>
  </property>
</Properties>
</file>